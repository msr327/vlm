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BTP / AUTONOMOUS DRIVING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1C1B"/>
                </a:solidFill>
                <a:latin typeface="Aptos"/>
              </a:rPr>
              <a:t>From inherited baseline
to a multimodal driving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743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96762"/>
                </a:solidFill>
                <a:latin typeface="Aptos"/>
              </a:rPr>
              <a:t>Literature → implementation → evaluation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401568"/>
            <a:ext cx="530352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3611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B"/>
                </a:solidFill>
                <a:latin typeface="Aptos"/>
              </a:rPr>
              <a:t>RGB cameras  ·  LiDAR BEV  ·  speech  ·  PPO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897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762"/>
                </a:solidFill>
                <a:latin typeface="Aptos"/>
              </a:rPr>
              <a:t>Research &amp; implementation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01 ·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What the project inherited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1C1B"/>
                </a:solidFill>
                <a:latin typeface="Aptos"/>
              </a:defRPr>
            </a:pPr>
            <a:r>
              <a:t>• Semantic-segmentation ground truth was used as the perception input.</a:t>
            </a:r>
          </a:p>
          <a:p>
            <a:pPr>
              <a:spcAft>
                <a:spcPts val="900"/>
              </a:spcAft>
              <a:defRPr sz="1700">
                <a:solidFill>
                  <a:srgbClr val="1C1C1B"/>
                </a:solidFill>
                <a:latin typeface="Aptos"/>
              </a:defRPr>
            </a:pPr>
            <a:r>
              <a:t>• A VAE-based pipeline carried a large model footprint and high latency.</a:t>
            </a:r>
          </a:p>
          <a:p>
            <a:pPr>
              <a:spcAft>
                <a:spcPts val="900"/>
              </a:spcAft>
              <a:defRPr sz="1700">
                <a:solidFill>
                  <a:srgbClr val="1C1C1B"/>
                </a:solidFill>
                <a:latin typeface="Aptos"/>
              </a:defRPr>
            </a:pPr>
            <a:r>
              <a:t>• Training and evaluation on the same town did not test cross-map generalization.</a:t>
            </a:r>
          </a:p>
          <a:p>
            <a:pPr>
              <a:spcAft>
                <a:spcPts val="900"/>
              </a:spcAft>
              <a:defRPr sz="1700">
                <a:solidFill>
                  <a:srgbClr val="1C1C1B"/>
                </a:solidFill>
                <a:latin typeface="Aptos"/>
              </a:defRPr>
            </a:pPr>
            <a:r>
              <a:t>• Speech interaction existed separately from the driving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65960"/>
            <a:ext cx="25603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C1C1B"/>
                </a:solidFill>
                <a:latin typeface="Aptos"/>
              </a:rPr>
              <a:t>Legacy MTP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8892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47872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VAE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306824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Town02 → Town02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257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762"/>
                </a:solidFill>
                <a:latin typeface="Aptos"/>
              </a:rPr>
              <a:t>The redesign starts by removing these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The system I am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9659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3 × RGB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42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LMDrive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19659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BEV 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542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TransFuser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19659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42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wav2vec 2.0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828800"/>
            <a:ext cx="19659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Kinematics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542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337560"/>
            <a:ext cx="45262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1C1C1B"/>
                </a:solidFill>
                <a:latin typeface="Aptos"/>
              </a:rPr>
              <a:t>Multimodal encoder
128-d latent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617720"/>
            <a:ext cx="4526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+ 5 kinematic values
→ 133-d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5577840"/>
            <a:ext cx="45262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C1C1B"/>
                </a:solidFill>
                <a:latin typeface="Aptos"/>
              </a:rPr>
              <a:t>PPO actor–critic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speech intent conditions the representation rather than blocking the control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03 ·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The papers are used for specific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LMDrive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7556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camera layout; auxiliary pre-training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TransFuser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2128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BEV LiDAR representation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wav2vec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700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speech feature extraction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906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FiLM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272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feature-wise language conditioning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478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MobileNets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5844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depthwise-separable convolutions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050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CAPS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0416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action smoothing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622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988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CaRL + 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4988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PPO / CARLA training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194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Talk2Car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9560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language-conditioned driving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766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13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BEVDet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4132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shared-weight multi-camera encoding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338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704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DriveVLM + EMMA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870448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architectural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291072"/>
            <a:ext cx="1037844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38251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15C39"/>
                </a:solidFill>
                <a:latin typeface="Aptos"/>
              </a:rPr>
              <a:t>CAPS replaces PINNsformer in the current literature audit.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04 · 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A small multimodal encoder, not a large VLM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0116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1C1C1B"/>
                </a:solidFill>
                <a:latin typeface="Aptos"/>
              </a:rPr>
              <a:t>RGB / BEV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874519"/>
            <a:ext cx="22402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Shared-weight
patch 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74519"/>
            <a:ext cx="22402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FiLM conditioning
8 speech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874519"/>
            <a:ext cx="22402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2-layer Transformer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429000"/>
            <a:ext cx="3017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C1C1B"/>
                </a:solidFill>
                <a:latin typeface="Aptos"/>
              </a:rPr>
              <a:t>Global average pooling
→ 128-d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B"/>
                </a:solidFill>
                <a:latin typeface="Aptos"/>
              </a:rPr>
              <a:t>Implementation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1C1B"/>
                </a:solidFill>
                <a:latin typeface="Aptos"/>
              </a:defRPr>
            </a:pPr>
            <a:r>
              <a:t>• 800 tokens · d = 64</a:t>
            </a:r>
          </a:p>
          <a:p>
            <a:pPr>
              <a:spcAft>
                <a:spcPts val="900"/>
              </a:spcAft>
              <a:defRPr sz="1500">
                <a:solidFill>
                  <a:srgbClr val="1C1C1B"/>
                </a:solidFill>
                <a:latin typeface="Aptos"/>
              </a:defRPr>
            </a:pPr>
            <a:r>
              <a:t>• 133K parameters</a:t>
            </a:r>
          </a:p>
          <a:p>
            <a:pPr>
              <a:spcAft>
                <a:spcPts val="900"/>
              </a:spcAft>
              <a:defRPr sz="1500">
                <a:solidFill>
                  <a:srgbClr val="1C1C1B"/>
                </a:solidFill>
                <a:latin typeface="Aptos"/>
              </a:defRPr>
            </a:pPr>
            <a:r>
              <a:t>• ≈ 0.51 MB model 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920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762"/>
                </a:solidFill>
                <a:latin typeface="Aptos"/>
              </a:rPr>
              <a:t>The point is to keep the representation small enough for edge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05 · SENSORS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What enters the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103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LEFT RGB
−60°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920240"/>
            <a:ext cx="2103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FRONT RGB
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920240"/>
            <a:ext cx="2103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RIGHT RGB
+60°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2103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LiDAR → BEV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461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762"/>
                </a:solidFill>
                <a:latin typeface="Aptos"/>
              </a:rPr>
              <a:t>shared-weight visual encoding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251960"/>
            <a:ext cx="24688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Speech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25196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C1C1B"/>
                </a:solidFill>
                <a:latin typeface="Aptos"/>
              </a:rPr>
              <a:t>FiLM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251960"/>
            <a:ext cx="24688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128-d latent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321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C1C1B"/>
                </a:solidFill>
                <a:latin typeface="Aptos"/>
              </a:rPr>
              <a:t>Kinematics are appended after the visual-language representation.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06 ·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Speech is a control signal, not another camera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1488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16 kHz audio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965960"/>
            <a:ext cx="21488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wav2vec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965960"/>
            <a:ext cx="21488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8 driving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965960"/>
            <a:ext cx="24688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FiLM → visual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337560"/>
            <a:ext cx="987552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B"/>
                </a:solidFill>
                <a:latin typeface="Aptos"/>
              </a:rPr>
              <a:t>Example command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1C1B"/>
                </a:solidFill>
                <a:latin typeface="Aptos"/>
              </a:rPr>
              <a:t>“turn left”  →  intent  →  conditioning  →  state  →  PPO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663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Sparse spoken commands can update the state without waiting on the 20 Hz control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07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Training data is deliberately separated by town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2834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000" b="1">
                <a:solidFill>
                  <a:srgbClr val="1C1C1B"/>
                </a:solidFill>
                <a:latin typeface="Aptos"/>
              </a:rPr>
              <a:t>Town01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28346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20K synchronized 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28346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Pre-train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057400"/>
            <a:ext cx="2834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000" b="0">
                <a:solidFill>
                  <a:srgbClr val="1C1C1B"/>
                </a:solidFill>
                <a:latin typeface="Aptos"/>
              </a:rPr>
              <a:t>PPO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337560"/>
            <a:ext cx="28346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1M timesteps (target)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297680"/>
            <a:ext cx="28346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Closed-loop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057400"/>
            <a:ext cx="2377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000" b="1">
                <a:solidFill>
                  <a:srgbClr val="1C1C1B"/>
                </a:solidFill>
                <a:latin typeface="Aptos"/>
              </a:rPr>
              <a:t>Town02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3337560"/>
            <a:ext cx="23774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50 evaluation episodes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297680"/>
            <a:ext cx="23774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1C1C1B"/>
                </a:solidFill>
                <a:latin typeface="Aptos"/>
              </a:rPr>
              <a:t>No 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762"/>
                </a:solidFill>
                <a:latin typeface="Aptos"/>
              </a:rPr>
              <a:t>Town01 → Town02 is the generalization test; success should only be claimed after the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08 · PRE-TRAINING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Before PPO, teach the encoder basic vehicle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743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1C1C1B"/>
                </a:solidFill>
                <a:latin typeface="Aptos"/>
              </a:rPr>
              <a:t>RGB + LiDAR + speech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2743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Multimodal encoder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23774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128-d latent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657600"/>
            <a:ext cx="2468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steering prediction
MSE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657600"/>
            <a:ext cx="24688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speed prediction
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1C1B"/>
                </a:solidFill>
                <a:latin typeface="Aptos"/>
              </a:rPr>
              <a:t>Auxiliary losses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762"/>
                </a:solidFill>
                <a:latin typeface="Aptos"/>
              </a:rPr>
              <a:t>The roadmap uses 40 epochs for steering + speed pre-training before PPO.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09 ·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PPO sees a compact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9260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1C1C1B"/>
                </a:solidFill>
                <a:latin typeface="Aptos"/>
              </a:rPr>
              <a:t>128-d multimodal latent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29260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0">
                <a:solidFill>
                  <a:srgbClr val="1C1C1B"/>
                </a:solidFill>
                <a:latin typeface="Aptos"/>
              </a:rPr>
              <a:t>+ 5 kinematic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29260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1C1C1B"/>
                </a:solidFill>
                <a:latin typeface="Aptos"/>
              </a:rPr>
              <a:t>133-d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2461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331720"/>
            <a:ext cx="30175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0">
                <a:solidFill>
                  <a:srgbClr val="1C1C1B"/>
                </a:solidFill>
                <a:latin typeface="Aptos"/>
              </a:rPr>
              <a:t>PPO actor–critic
500 → 300 →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331720"/>
            <a:ext cx="23774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C1C1B"/>
                </a:solidFill>
                <a:latin typeface="Aptos"/>
              </a:rPr>
              <a:t>steering + throttle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25196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Action smoothing is treated separately from perception; CAPS is the literature reference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10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What needs to be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Route completion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10512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Town02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Collision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377440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Town02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Average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44368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Town02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9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Command adherence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511296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Speech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Inference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78224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RPi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Throughput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645152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FPS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30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Memory footprint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212080"/>
            <a:ext cx="1920240" cy="347472"/>
          </a:xfrm>
          <a:prstGeom prst="round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1C1B"/>
                </a:solidFill>
                <a:latin typeface="Aptos"/>
              </a:rPr>
              <a:t>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1488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96762"/>
                </a:solidFill>
                <a:latin typeface="Aptos"/>
              </a:rPr>
              <a:t>Measured values belong here once those runs exist.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11 · EDGE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The benchmark is a gate, not a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15C39"/>
                </a:solidFill>
                <a:latin typeface="Aptos"/>
              </a:rPr>
              <a:t>≤ 25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6762"/>
                </a:solidFill>
                <a:latin typeface="Aptos"/>
              </a:rPr>
              <a:t>latency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15C39"/>
                </a:solidFill>
                <a:latin typeface="Aptos"/>
              </a:rPr>
              <a:t>&gt; 40 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6762"/>
                </a:solidFill>
                <a:latin typeface="Aptos"/>
              </a:rPr>
              <a:t>throughput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15C39"/>
                </a:solidFill>
                <a:latin typeface="Aptos"/>
              </a:rPr>
              <a:t>≤ 1.5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6762"/>
                </a:solidFill>
                <a:latin typeface="Aptos"/>
              </a:rPr>
              <a:t>memory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1033272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B"/>
                </a:solidFill>
                <a:latin typeface="Aptos"/>
              </a:rPr>
              <a:t>Physical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C1B"/>
                </a:solidFill>
                <a:latin typeface="Aptos"/>
              </a:rPr>
              <a:t>Raspberry Pi 4 · 500 inference cycles · CPU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762"/>
                </a:solidFill>
                <a:latin typeface="Aptos"/>
              </a:rPr>
              <a:t>Only after this run should the deck claim an edge-latency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12 ·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Literature →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LMDrive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783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camera placement + auxiliary pre-training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TransFuser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50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3500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LiDAR → BEV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169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wav2vec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916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91693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speech 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FiLM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48386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83863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speech → feature modulation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507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MobileNets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05079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050791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efficient visual blocks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CAPS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617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617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smooth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CaRL / 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846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184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762"/>
                </a:solidFill>
                <a:latin typeface="Aptos"/>
              </a:rPr>
              <a:t>CARLA PPO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B"/>
                </a:solidFill>
                <a:latin typeface="Aptos"/>
              </a:rPr>
              <a:t>This is the slide to defend when someone asks: “Why this component?”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13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What happens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sensor +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Town01 / 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1336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Pre-train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steer +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95544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closed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9752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Generalize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Town02 / 50 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RPi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15C39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8168" y="1828800"/>
            <a:ext cx="502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15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rgbClr val="1C1C1B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6728" y="2514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1C1B"/>
                </a:solidFill>
                <a:latin typeface="Aptos"/>
              </a:rPr>
              <a:t>Write-up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9568" y="292608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762"/>
                </a:solidFill>
                <a:latin typeface="Aptos"/>
              </a:rPr>
              <a:t>report + defense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977639"/>
            <a:ext cx="1024128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C1C1B"/>
                </a:solidFill>
                <a:latin typeface="Aptos"/>
              </a:rPr>
              <a:t>Distinguish completed work from targets throughout.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663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5C39"/>
                </a:solidFill>
                <a:latin typeface="Aptos"/>
              </a:rPr>
              <a:t>No “project complete” claim until the evaluation evidence exists.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14 ·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B"/>
                </a:solidFill>
                <a:latin typeface="Aptos"/>
              </a:rPr>
              <a:t>What the final evidence should contain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1097280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1C1B"/>
                </a:solidFill>
                <a:latin typeface="Aptos"/>
              </a:defRPr>
            </a:pPr>
            <a:r>
              <a:t>• Architecture: sensor-to-policy diagram and implementation details.</a:t>
            </a:r>
          </a:p>
          <a:p>
            <a:pPr>
              <a:spcAft>
                <a:spcPts val="900"/>
              </a:spcAft>
              <a:defRPr sz="1600">
                <a:solidFill>
                  <a:srgbClr val="1C1C1B"/>
                </a:solidFill>
                <a:latin typeface="Aptos"/>
              </a:defRPr>
            </a:pPr>
            <a:r>
              <a:t>• Literature: paper → design-decision mapping.</a:t>
            </a:r>
          </a:p>
          <a:p>
            <a:pPr>
              <a:spcAft>
                <a:spcPts val="900"/>
              </a:spcAft>
              <a:defRPr sz="1600">
                <a:solidFill>
                  <a:srgbClr val="1C1C1B"/>
                </a:solidFill>
                <a:latin typeface="Aptos"/>
              </a:defRPr>
            </a:pPr>
            <a:r>
              <a:t>• Data: Town01 collection and training split.</a:t>
            </a:r>
          </a:p>
          <a:p>
            <a:pPr>
              <a:spcAft>
                <a:spcPts val="900"/>
              </a:spcAft>
              <a:defRPr sz="1600">
                <a:solidFill>
                  <a:srgbClr val="1C1C1B"/>
                </a:solidFill>
                <a:latin typeface="Aptos"/>
              </a:defRPr>
            </a:pPr>
            <a:r>
              <a:t>• Evaluation: Town02 generalization curves and collision / completion metrics.</a:t>
            </a:r>
          </a:p>
          <a:p>
            <a:pPr>
              <a:spcAft>
                <a:spcPts val="900"/>
              </a:spcAft>
              <a:defRPr sz="1600">
                <a:solidFill>
                  <a:srgbClr val="1C1C1B"/>
                </a:solidFill>
                <a:latin typeface="Aptos"/>
              </a:defRPr>
            </a:pPr>
            <a:r>
              <a:t>• Edge: Raspberry Pi latency, throughput and memory measurements.</a:t>
            </a:r>
          </a:p>
          <a:p>
            <a:pPr>
              <a:spcAft>
                <a:spcPts val="900"/>
              </a:spcAft>
              <a:defRPr sz="1600">
                <a:solidFill>
                  <a:srgbClr val="1C1C1B"/>
                </a:solidFill>
                <a:latin typeface="Aptos"/>
              </a:defRPr>
            </a:pPr>
            <a:r>
              <a:t>• Reproducibility: scripts, checkpoints and result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B"/>
                </a:solidFill>
                <a:latin typeface="Aptos"/>
              </a:rPr>
              <a:t>The final story is evidence-led: what changed → why → how → what happened.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15C39"/>
                </a:solidFill>
                <a:latin typeface="Aptos"/>
              </a:rPr>
              <a:t>BTP / NEXT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1C1B"/>
                </a:solidFill>
                <a:latin typeface="Aptos"/>
              </a:rPr>
              <a:t>Build it. Measure it.
Then make the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880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96762"/>
                </a:solidFill>
                <a:latin typeface="Aptos"/>
              </a:rPr>
              <a:t>Town01 → PPO → Town02 → Raspberry 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3520440"/>
            <a:ext cx="5394960" cy="10972"/>
          </a:xfrm>
          <a:prstGeom prst="rect">
            <a:avLst/>
          </a:prstGeom>
          <a:solidFill>
            <a:srgbClr val="E7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3749039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B"/>
                </a:solidFill>
                <a:latin typeface="Aptos"/>
              </a:rPr>
              <a:t>The deck is written around the work itself, not around presentation templates.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800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6762"/>
                </a:solidFill>
                <a:latin typeface="Aptos"/>
              </a:rPr>
              <a:t>Sources and paper details can sit in speaker notes / reference appendix.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76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Autonomous Driving — BTP</dc:title>
  <dc:subject>Literature, implementation and evaluation roadmap</dc:subject>
  <dc:creator>Srishanth Reddy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